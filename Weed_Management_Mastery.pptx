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1 - Welcome):</a:t>
            </a:r>
          </a:p>
          <a:p>
            <a:r>
              <a:t>Welcome everyone. Today we are presenting a complete guide to Weed Management in Agriculture.</a:t>
            </a:r>
          </a:p>
          <a:p>
            <a:r>
              <a:t>We will go through the definition of weeds, why managing them is critical for crop production, core principles, all key control methods—including preventive, cultural, mechanical, mulching, and biological—and discuss their advantages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2 - Meaning of Weed &amp; Weed Management):</a:t>
            </a:r>
          </a:p>
          <a:p>
            <a:r>
              <a:t>Let us start with the basic definition:</a:t>
            </a:r>
          </a:p>
          <a:p>
            <a:r>
              <a:t>1. What is a weed? It is simply a plant growing where it is not wanted. Even a tomato plant in a wheat field is a weed because it competes with the wheat.</a:t>
            </a:r>
          </a:p>
          <a:p>
            <a:r>
              <a:t>2. What is weed management? It is the organized method of controlling weeds so our main crops get the water, fertilizer, and sunlight they need to produce a high yield.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3 - Importance of Weed Management):</a:t>
            </a:r>
          </a:p>
          <a:p>
            <a:r>
              <a:t>Why is weed management so important for farmers?</a:t>
            </a:r>
          </a:p>
          <a:p>
            <a:r>
              <a:t>1. Yield protection: Without weed control, crop yield can drop heavily.</a:t>
            </a:r>
          </a:p>
          <a:p>
            <a:r>
              <a:t>2. Resource efficiency: Weeds drink the irrigation water and eat the costly fertilizer intended for your crops.</a:t>
            </a:r>
          </a:p>
          <a:p>
            <a:r>
              <a:t>3. Disease and pest prevention: Weeds host pests and fungi that attack your crops.</a:t>
            </a:r>
          </a:p>
          <a:p>
            <a:r>
              <a:t>4. Higher market prices: Clean grain and produce sell at higher prices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4 - Principles of Weed Management):</a:t>
            </a:r>
          </a:p>
          <a:p>
            <a:r>
              <a:t>Here are the four key principles of weed management:</a:t>
            </a:r>
          </a:p>
          <a:p>
            <a:r>
              <a:t>1. Prevention: Stop weed seeds before they enter the farm.</a:t>
            </a:r>
          </a:p>
          <a:p>
            <a:r>
              <a:t>2. Timing: Protect the crop during its critical first 30 days.</a:t>
            </a:r>
          </a:p>
          <a:p>
            <a:r>
              <a:t>3. Integration: Combine different methods for better results.</a:t>
            </a:r>
          </a:p>
          <a:p>
            <a:r>
              <a:t>4. Seed control: Remove weeds before they flower and produce seeds.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5 - Preventive Methods):</a:t>
            </a:r>
          </a:p>
          <a:p>
            <a:r>
              <a:t>Preventive methods are the most cost-effective way to manage weeds:</a:t>
            </a:r>
          </a:p>
          <a:p>
            <a:r>
              <a:t>1. Certified seeds: Make sure no foreign weed seeds are planted with your crop.</a:t>
            </a:r>
          </a:p>
          <a:p>
            <a:r>
              <a:t>2. Clean machines: Harvesters and tractors carry seeds from field to field if not washed.</a:t>
            </a:r>
          </a:p>
          <a:p>
            <a:r>
              <a:t>3. Well-rotted manure: Fresh manure contains active weed seeds.</a:t>
            </a:r>
          </a:p>
          <a:p>
            <a:r>
              <a:t>4. Clean canals: Stops weed seeds from traveling in irrigation water.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6 - Cultural Methods):</a:t>
            </a:r>
          </a:p>
          <a:p>
            <a:r>
              <a:t>Cultural methods use smart farming habits to suppress weeds:</a:t>
            </a:r>
          </a:p>
          <a:p>
            <a:r>
              <a:t>1. Stale Seedbed: Irrigating early sprouts weeds so they can be removed before the real crop is sown.</a:t>
            </a:r>
          </a:p>
          <a:p>
            <a:r>
              <a:t>2. Crop Rotation: Rotating crops prevents any single weed type from dominating.</a:t>
            </a:r>
          </a:p>
          <a:p>
            <a:r>
              <a:t>3. Spacing: Proper spacing makes crops form a dense canopy that shades out weeds.</a:t>
            </a:r>
          </a:p>
          <a:p>
            <a:r>
              <a:t>4. Cover Crops: Growing ground-cover plants smothers weed growth naturally.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7 - Mechanical Methods):</a:t>
            </a:r>
          </a:p>
          <a:p>
            <a:r>
              <a:t>Mechanical methods use physical tools to destroy weeds:</a:t>
            </a:r>
          </a:p>
          <a:p>
            <a:r>
              <a:t>1. Hand Weeding: Great for small farms and close to delicate plants.</a:t>
            </a:r>
          </a:p>
          <a:p>
            <a:r>
              <a:t>2. Tractor Cultivation: Fast and efficient for large acreage.</a:t>
            </a:r>
          </a:p>
          <a:p>
            <a:r>
              <a:t>3. Mowing: Stops weeds from producing flowers and seeds.</a:t>
            </a:r>
          </a:p>
          <a:p>
            <a:r>
              <a:t>4. Soil Solarization: Uses summer sun heat under plastic sheets to sterilize weed seeds.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8 - Mulching Methods):</a:t>
            </a:r>
          </a:p>
          <a:p>
            <a:r>
              <a:t>Mulching is one of the best non-chemical weed control methods:</a:t>
            </a:r>
          </a:p>
          <a:p>
            <a:r>
              <a:t>1. How it works: By covering the soil, it blocks sunlight so weed seeds cannot germinate.</a:t>
            </a:r>
          </a:p>
          <a:p>
            <a:r>
              <a:t>2. Organic Mulch: Made of straw or dry leaves that eventually nourish the soil.</a:t>
            </a:r>
          </a:p>
          <a:p>
            <a:r>
              <a:t>3. Plastic Mulch: Black plastic film commonly used in vegetable and fruit farming.</a:t>
            </a:r>
          </a:p>
          <a:p>
            <a:r>
              <a:t>4. Benefits: Stops weeds, saves water, and keeps the soil healthy.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9 - Biological Methods):</a:t>
            </a:r>
          </a:p>
          <a:p>
            <a:r>
              <a:t>Biological methods use living organisms to control weeds:</a:t>
            </a:r>
          </a:p>
          <a:p>
            <a:r>
              <a:t>1. Specific insects that eat only the problem weed without touching crops.</a:t>
            </a:r>
          </a:p>
          <a:p>
            <a:r>
              <a:t>2. Natural bio-agents and fungi that suppress target weeds.</a:t>
            </a:r>
          </a:p>
          <a:p>
            <a:r>
              <a:t>3. Grazing animals like ducks in rice fields to consume weed sprouts.</a:t>
            </a:r>
          </a:p>
          <a:p>
            <a:r>
              <a:t>4. This method is completely natural with zero chemical residues.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10 - Advantages &amp; Limitations):</a:t>
            </a:r>
          </a:p>
          <a:p>
            <a:r>
              <a:t>Here is a balanced comparison:</a:t>
            </a:r>
          </a:p>
          <a:p>
            <a:r>
              <a:t>Advantages: Higher yields, efficient fertilizer and water use, fewer pests, and cleaner harvest.</a:t>
            </a:r>
          </a:p>
          <a:p>
            <a:r>
              <a:t>Limitations: Hand labor is hard to find, equipment costs money, wet weather can delay weeding, and plastic mulch needs disposal.</a:t>
            </a:r>
          </a:p>
          <a:p>
            <a:r>
              <a:t>Combining different methods helps overcome these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11 - Conclusion):</a:t>
            </a:r>
          </a:p>
          <a:p>
            <a:r>
              <a:t>In conclusion, remember these five simple rules:</a:t>
            </a:r>
          </a:p>
          <a:p>
            <a:r>
              <a:t>1. Start clean with certified seed.</a:t>
            </a:r>
          </a:p>
          <a:p>
            <a:r>
              <a:t>2. Act early during the first 30 days.</a:t>
            </a:r>
          </a:p>
          <a:p>
            <a:r>
              <a:t>3. Protect the soil with mulch.</a:t>
            </a:r>
          </a:p>
          <a:p>
            <a:r>
              <a:t>4. Combine multiple methods.</a:t>
            </a:r>
          </a:p>
          <a:p>
            <a:r>
              <a:t>5. Never let weeds produce seeds.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12 - Closing):</a:t>
            </a:r>
          </a:p>
          <a:p>
            <a:r>
              <a:t>Thank you very much for your attention!</a:t>
            </a:r>
          </a:p>
          <a:p>
            <a:r>
              <a:t>We are now open for any questions, thoughts, or discussion on weed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97280"/>
            <a:ext cx="6217920" cy="502920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71600"/>
            <a:ext cx="5669280" cy="4572000"/>
          </a:xfrm>
          <a:prstGeom prst="rect">
            <a:avLst/>
          </a:prstGeom>
          <a:noFill/>
        </p:spPr>
        <p:txBody>
          <a:bodyPr wrap="square">
            <a:spAutoFit/>
          </a:bodyPr>
          <a:lstStyle/>
          <a:p>
            <a:pPr>
              <a:spcAft>
                <a:spcPts val="1400"/>
              </a:spcAft>
              <a:defRPr sz="1200" b="1">
                <a:solidFill>
                  <a:srgbClr val="F59E0B"/>
                </a:solidFill>
                <a:latin typeface="Calibri"/>
              </a:defRPr>
            </a:pPr>
            <a:r>
              <a:t>AGRICULTURE &amp; CROP SCIENCE</a:t>
            </a:r>
          </a:p>
          <a:p>
            <a:pPr>
              <a:spcAft>
                <a:spcPts val="1600"/>
              </a:spcAft>
              <a:defRPr sz="3600" b="1">
                <a:solidFill>
                  <a:srgbClr val="FFFFFF"/>
                </a:solidFill>
                <a:latin typeface="Calibri"/>
              </a:defRPr>
            </a:pPr>
            <a:r>
              <a:t>Weed Management</a:t>
            </a:r>
            <a:br/>
            <a:r>
              <a:t>in Agriculture</a:t>
            </a:r>
          </a:p>
          <a:p>
            <a:pPr>
              <a:spcAft>
                <a:spcPts val="600"/>
              </a:spcAft>
              <a:defRPr sz="1300" b="1">
                <a:solidFill>
                  <a:srgbClr val="22C55E"/>
                </a:solidFill>
                <a:latin typeface="Calibri"/>
              </a:defRPr>
            </a:pPr>
            <a:r>
              <a:t>Key Topics Covered:</a:t>
            </a:r>
          </a:p>
          <a:p>
            <a:pPr>
              <a:spcAft>
                <a:spcPts val="400"/>
              </a:spcAft>
              <a:defRPr sz="1200">
                <a:solidFill>
                  <a:srgbClr val="E2E8F0"/>
                </a:solidFill>
                <a:latin typeface="Calibri"/>
              </a:defRPr>
            </a:pPr>
            <a:r>
              <a:t>▪  Meaning of Weed &amp; Weed Management</a:t>
            </a:r>
          </a:p>
          <a:p>
            <a:pPr>
              <a:spcAft>
                <a:spcPts val="400"/>
              </a:spcAft>
              <a:defRPr sz="1200">
                <a:solidFill>
                  <a:srgbClr val="E2E8F0"/>
                </a:solidFill>
                <a:latin typeface="Calibri"/>
              </a:defRPr>
            </a:pPr>
            <a:r>
              <a:t>▪  Importance &amp; Core Principles</a:t>
            </a:r>
          </a:p>
          <a:p>
            <a:pPr>
              <a:spcAft>
                <a:spcPts val="400"/>
              </a:spcAft>
              <a:defRPr sz="1200">
                <a:solidFill>
                  <a:srgbClr val="E2E8F0"/>
                </a:solidFill>
                <a:latin typeface="Calibri"/>
              </a:defRPr>
            </a:pPr>
            <a:r>
              <a:t>▪  Preventive, Cultural, Mechanical &amp; Biological Methods</a:t>
            </a:r>
          </a:p>
          <a:p>
            <a:pPr>
              <a:spcAft>
                <a:spcPts val="400"/>
              </a:spcAft>
              <a:defRPr sz="1200">
                <a:solidFill>
                  <a:srgbClr val="E2E8F0"/>
                </a:solidFill>
                <a:latin typeface="Calibri"/>
              </a:defRPr>
            </a:pPr>
            <a:r>
              <a:t>▪  Mulching Methods (Organic &amp; Plastic)</a:t>
            </a:r>
          </a:p>
          <a:p>
            <a:pPr>
              <a:spcAft>
                <a:spcPts val="400"/>
              </a:spcAft>
              <a:defRPr sz="1200">
                <a:solidFill>
                  <a:srgbClr val="E2E8F0"/>
                </a:solidFill>
                <a:latin typeface="Calibri"/>
              </a:defRPr>
            </a:pPr>
            <a:r>
              <a:t>▪  Advantages &amp; Practical Limitations</a:t>
            </a:r>
          </a:p>
        </p:txBody>
      </p:sp>
      <p:pic>
        <p:nvPicPr>
          <p:cNvPr id="6" name="Picture 5" descr="integrated_weed_management.jpg"/>
          <p:cNvPicPr>
            <a:picLocks noChangeAspect="1"/>
          </p:cNvPicPr>
          <p:nvPr/>
        </p:nvPicPr>
        <p:blipFill>
          <a:blip r:embed="rId2"/>
          <a:stretch>
            <a:fillRect/>
          </a:stretch>
        </p:blipFill>
        <p:spPr>
          <a:xfrm>
            <a:off x="7223760" y="1097280"/>
            <a:ext cx="4206240" cy="5029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Meaning: What is a Weed &amp; Weed Management?</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02 / 12</a:t>
            </a:r>
          </a:p>
        </p:txBody>
      </p:sp>
      <p:pic>
        <p:nvPicPr>
          <p:cNvPr id="7" name="Picture 6" descr="weed_meaning_intro.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22C55E"/>
                </a:solidFill>
                <a:latin typeface="Calibri"/>
              </a:defRPr>
            </a:pPr>
            <a:r>
              <a:t>🌿  What is a Weed?</a:t>
            </a:r>
          </a:p>
          <a:p>
            <a:pPr>
              <a:defRPr sz="1100">
                <a:solidFill>
                  <a:srgbClr val="E2E8F0"/>
                </a:solidFill>
                <a:latin typeface="Calibri"/>
              </a:defRPr>
            </a:pPr>
            <a:r>
              <a:t>A weed is any plant growing where it is not wanted. For example, wild plants that grow in crop fields and compete with crops for food and water.</a:t>
            </a:r>
          </a:p>
        </p:txBody>
      </p:sp>
      <p:sp>
        <p:nvSpPr>
          <p:cNvPr id="10" name="Rounded Rectangle 9"/>
          <p:cNvSpPr/>
          <p:nvPr/>
        </p:nvSpPr>
        <p:spPr>
          <a:xfrm>
            <a:off x="5394960" y="260604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F59E0B"/>
                </a:solidFill>
                <a:latin typeface="Calibri"/>
              </a:defRPr>
            </a:pPr>
            <a:r>
              <a:t>🎯  What is Weed Management?</a:t>
            </a:r>
          </a:p>
          <a:p>
            <a:pPr>
              <a:defRPr sz="1100">
                <a:solidFill>
                  <a:srgbClr val="E2E8F0"/>
                </a:solidFill>
                <a:latin typeface="Calibri"/>
              </a:defRPr>
            </a:pPr>
            <a:r>
              <a:t>The practice of controlling and suppressing unwanted weeds so crops can grow healthy, receive full nutrients, and produce good harvest yields.</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How Weeds Harm Crops</a:t>
            </a:r>
          </a:p>
          <a:p>
            <a:pPr>
              <a:defRPr sz="1100">
                <a:solidFill>
                  <a:srgbClr val="E2E8F0"/>
                </a:solidFill>
                <a:latin typeface="Calibri"/>
              </a:defRPr>
            </a:pPr>
            <a:r>
              <a:t>Weeds compete directly with main crops for sunlight, soil moisture, space, and fertilizers, reducing overall harvest quality and quantity.</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Key Farming Goal</a:t>
            </a:r>
          </a:p>
          <a:p>
            <a:pPr>
              <a:defRPr sz="1100">
                <a:solidFill>
                  <a:srgbClr val="E2E8F0"/>
                </a:solidFill>
                <a:latin typeface="Calibri"/>
              </a:defRPr>
            </a:pPr>
            <a:r>
              <a:t>Keep fields clean and free from heavy weed growth, especially during early crop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Importance: Why Weed Management is Important</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03 / 12</a:t>
            </a:r>
          </a:p>
        </p:txBody>
      </p:sp>
      <p:pic>
        <p:nvPicPr>
          <p:cNvPr id="7" name="Picture 6" descr="weed_crop_competition.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F59E0B"/>
                </a:solidFill>
                <a:latin typeface="Calibri"/>
              </a:defRPr>
            </a:pPr>
            <a:r>
              <a:t>📈  Protects Crop Yield &amp; Harvest</a:t>
            </a:r>
          </a:p>
          <a:p>
            <a:pPr>
              <a:defRPr sz="1100">
                <a:solidFill>
                  <a:srgbClr val="E2E8F0"/>
                </a:solidFill>
                <a:latin typeface="Calibri"/>
              </a:defRPr>
            </a:pPr>
            <a:r>
              <a:t>Weeds rob crops of sunlight, space, and nutrients. Controlling weeds prevents large yield losses.</a:t>
            </a:r>
          </a:p>
        </p:txBody>
      </p:sp>
      <p:sp>
        <p:nvSpPr>
          <p:cNvPr id="10" name="Rounded Rectangle 9"/>
          <p:cNvSpPr/>
          <p:nvPr/>
        </p:nvSpPr>
        <p:spPr>
          <a:xfrm>
            <a:off x="5394960" y="260604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22C55E"/>
                </a:solidFill>
                <a:latin typeface="Calibri"/>
              </a:defRPr>
            </a:pPr>
            <a:r>
              <a:t>💧  Saves Water &amp; Expensive Fertilizers</a:t>
            </a:r>
          </a:p>
          <a:p>
            <a:pPr>
              <a:defRPr sz="1100">
                <a:solidFill>
                  <a:srgbClr val="E2E8F0"/>
                </a:solidFill>
                <a:latin typeface="Calibri"/>
              </a:defRPr>
            </a:pPr>
            <a:r>
              <a:t>Weeds absorb water and fertilizers very rapidly. Managing weeds ensures inputs nourish the crop.</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Prevents Pests &amp; Crop Diseases</a:t>
            </a:r>
          </a:p>
          <a:p>
            <a:pPr>
              <a:defRPr sz="1100">
                <a:solidFill>
                  <a:srgbClr val="E2E8F0"/>
                </a:solidFill>
                <a:latin typeface="Calibri"/>
              </a:defRPr>
            </a:pPr>
            <a:r>
              <a:t>Weeds provide hiding and breeding grounds for harmful insects, viruses, and plant pathogens.</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Improves Produce Quality &amp; Income</a:t>
            </a:r>
          </a:p>
          <a:p>
            <a:pPr>
              <a:defRPr sz="1100">
                <a:solidFill>
                  <a:srgbClr val="E2E8F0"/>
                </a:solidFill>
                <a:latin typeface="Calibri"/>
              </a:defRPr>
            </a:pPr>
            <a:r>
              <a:t>Clean fields yield higher quality produce free from weed seeds, resulting in better market prices.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Principles of Weed Management</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04 / 12</a:t>
            </a:r>
          </a:p>
        </p:txBody>
      </p:sp>
      <p:sp>
        <p:nvSpPr>
          <p:cNvPr id="7" name="Rounded Rectangle 6"/>
          <p:cNvSpPr/>
          <p:nvPr/>
        </p:nvSpPr>
        <p:spPr>
          <a:xfrm>
            <a:off x="731520" y="1371600"/>
            <a:ext cx="5120640" cy="228600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81328"/>
            <a:ext cx="4846320" cy="2066543"/>
          </a:xfrm>
          <a:prstGeom prst="rect">
            <a:avLst/>
          </a:prstGeom>
          <a:noFill/>
        </p:spPr>
        <p:txBody>
          <a:bodyPr wrap="square">
            <a:spAutoFit/>
          </a:bodyPr>
          <a:lstStyle/>
          <a:p>
            <a:pPr>
              <a:spcAft>
                <a:spcPts val="400"/>
              </a:spcAft>
              <a:defRPr sz="1400" b="1">
                <a:solidFill>
                  <a:srgbClr val="22C55E"/>
                </a:solidFill>
                <a:latin typeface="Calibri"/>
              </a:defRPr>
            </a:pPr>
            <a:r>
              <a:t>🛡️  1. Prevention First</a:t>
            </a:r>
          </a:p>
          <a:p>
            <a:pPr>
              <a:spcAft>
                <a:spcPts val="600"/>
              </a:spcAft>
              <a:defRPr sz="1100">
                <a:solidFill>
                  <a:srgbClr val="FFFFFF"/>
                </a:solidFill>
                <a:latin typeface="Calibri"/>
              </a:defRPr>
            </a:pPr>
            <a:r>
              <a:t>Prevent weed seeds from entering the field in the first place. Keeping seeds out is much easier than removing grown weeds.</a:t>
            </a:r>
          </a:p>
          <a:p>
            <a:pPr>
              <a:defRPr sz="1000">
                <a:solidFill>
                  <a:srgbClr val="E2E8F0"/>
                </a:solidFill>
                <a:latin typeface="Calibri"/>
              </a:defRPr>
            </a:pPr>
            <a:r>
              <a:t>▪ Use certified clean seeds.</a:t>
            </a:r>
          </a:p>
          <a:p>
            <a:pPr>
              <a:defRPr sz="1000">
                <a:solidFill>
                  <a:srgbClr val="E2E8F0"/>
                </a:solidFill>
                <a:latin typeface="Calibri"/>
              </a:defRPr>
            </a:pPr>
            <a:r>
              <a:t>▪ Clean equipment before moving to fresh fields.</a:t>
            </a:r>
          </a:p>
        </p:txBody>
      </p:sp>
      <p:sp>
        <p:nvSpPr>
          <p:cNvPr id="9" name="Rounded Rectangle 8"/>
          <p:cNvSpPr/>
          <p:nvPr/>
        </p:nvSpPr>
        <p:spPr>
          <a:xfrm>
            <a:off x="6217920" y="1371600"/>
            <a:ext cx="5212080" cy="228600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81328"/>
            <a:ext cx="4937760" cy="2066543"/>
          </a:xfrm>
          <a:prstGeom prst="rect">
            <a:avLst/>
          </a:prstGeom>
          <a:noFill/>
        </p:spPr>
        <p:txBody>
          <a:bodyPr wrap="square">
            <a:spAutoFit/>
          </a:bodyPr>
          <a:lstStyle/>
          <a:p>
            <a:pPr>
              <a:spcAft>
                <a:spcPts val="400"/>
              </a:spcAft>
              <a:defRPr sz="1400" b="1">
                <a:solidFill>
                  <a:srgbClr val="F59E0B"/>
                </a:solidFill>
                <a:latin typeface="Calibri"/>
              </a:defRPr>
            </a:pPr>
            <a:r>
              <a:t>⏱️  2. Critical Early Window (Timing)</a:t>
            </a:r>
          </a:p>
          <a:p>
            <a:pPr>
              <a:spcAft>
                <a:spcPts val="600"/>
              </a:spcAft>
              <a:defRPr sz="1100">
                <a:solidFill>
                  <a:srgbClr val="FFFFFF"/>
                </a:solidFill>
                <a:latin typeface="Calibri"/>
              </a:defRPr>
            </a:pPr>
            <a:r>
              <a:t>Crops are most sensitive during early growth (first 20 to 35 days). Keeping fields weed-free during this window ensures healthy crop establishment.</a:t>
            </a:r>
          </a:p>
          <a:p>
            <a:pPr>
              <a:defRPr sz="1000">
                <a:solidFill>
                  <a:srgbClr val="E2E8F0"/>
                </a:solidFill>
                <a:latin typeface="Calibri"/>
              </a:defRPr>
            </a:pPr>
            <a:r>
              <a:t>▪ Focus weeding efforts early.</a:t>
            </a:r>
          </a:p>
          <a:p>
            <a:pPr>
              <a:defRPr sz="1000">
                <a:solidFill>
                  <a:srgbClr val="E2E8F0"/>
                </a:solidFill>
                <a:latin typeface="Calibri"/>
              </a:defRPr>
            </a:pPr>
            <a:r>
              <a:t>▪ Crop leaves will naturally shade out late weeds.</a:t>
            </a:r>
          </a:p>
        </p:txBody>
      </p:sp>
      <p:sp>
        <p:nvSpPr>
          <p:cNvPr id="11" name="Rounded Rectangle 10"/>
          <p:cNvSpPr/>
          <p:nvPr/>
        </p:nvSpPr>
        <p:spPr>
          <a:xfrm>
            <a:off x="731520" y="3931920"/>
            <a:ext cx="5120640" cy="228600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041648"/>
            <a:ext cx="4846320" cy="2066543"/>
          </a:xfrm>
          <a:prstGeom prst="rect">
            <a:avLst/>
          </a:prstGeom>
          <a:noFill/>
        </p:spPr>
        <p:txBody>
          <a:bodyPr wrap="square">
            <a:spAutoFit/>
          </a:bodyPr>
          <a:lstStyle/>
          <a:p>
            <a:pPr>
              <a:spcAft>
                <a:spcPts val="400"/>
              </a:spcAft>
              <a:defRPr sz="1400" b="1">
                <a:solidFill>
                  <a:srgbClr val="06B6D4"/>
                </a:solidFill>
                <a:latin typeface="Calibri"/>
              </a:defRPr>
            </a:pPr>
            <a:r>
              <a:t>🔄  3. Combine Multiple Methods</a:t>
            </a:r>
          </a:p>
          <a:p>
            <a:pPr>
              <a:spcAft>
                <a:spcPts val="600"/>
              </a:spcAft>
              <a:defRPr sz="1100">
                <a:solidFill>
                  <a:srgbClr val="FFFFFF"/>
                </a:solidFill>
                <a:latin typeface="Calibri"/>
              </a:defRPr>
            </a:pPr>
            <a:r>
              <a:t>Do not rely on just one single technique. Using cultural, mechanical, and biological tools together gives the best results.</a:t>
            </a:r>
          </a:p>
          <a:p>
            <a:pPr>
              <a:defRPr sz="1000">
                <a:solidFill>
                  <a:srgbClr val="E2E8F0"/>
                </a:solidFill>
                <a:latin typeface="Calibri"/>
              </a:defRPr>
            </a:pPr>
            <a:r>
              <a:t>▪ Combines mechanical and natural tools.</a:t>
            </a:r>
          </a:p>
          <a:p>
            <a:pPr>
              <a:defRPr sz="1000">
                <a:solidFill>
                  <a:srgbClr val="E2E8F0"/>
                </a:solidFill>
                <a:latin typeface="Calibri"/>
              </a:defRPr>
            </a:pPr>
            <a:r>
              <a:t>▪ Prevents weeds from adapting.</a:t>
            </a:r>
          </a:p>
        </p:txBody>
      </p:sp>
      <p:sp>
        <p:nvSpPr>
          <p:cNvPr id="13" name="Rounded Rectangle 12"/>
          <p:cNvSpPr/>
          <p:nvPr/>
        </p:nvSpPr>
        <p:spPr>
          <a:xfrm>
            <a:off x="6217920" y="3931920"/>
            <a:ext cx="5212080" cy="228600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041648"/>
            <a:ext cx="4937760" cy="2066543"/>
          </a:xfrm>
          <a:prstGeom prst="rect">
            <a:avLst/>
          </a:prstGeom>
          <a:noFill/>
        </p:spPr>
        <p:txBody>
          <a:bodyPr wrap="square">
            <a:spAutoFit/>
          </a:bodyPr>
          <a:lstStyle/>
          <a:p>
            <a:pPr>
              <a:spcAft>
                <a:spcPts val="400"/>
              </a:spcAft>
              <a:defRPr sz="1400" b="1">
                <a:solidFill>
                  <a:srgbClr val="FFFFFF"/>
                </a:solidFill>
                <a:latin typeface="Calibri"/>
              </a:defRPr>
            </a:pPr>
            <a:r>
              <a:t>📉  4. Stop Weed Seed Production</a:t>
            </a:r>
          </a:p>
          <a:p>
            <a:pPr>
              <a:spcAft>
                <a:spcPts val="600"/>
              </a:spcAft>
              <a:defRPr sz="1100">
                <a:solidFill>
                  <a:srgbClr val="FFFFFF"/>
                </a:solidFill>
                <a:latin typeface="Calibri"/>
              </a:defRPr>
            </a:pPr>
            <a:r>
              <a:t>Never let weeds flower and produce seeds in your field. Removing weeds before seed formation steadily reduces weeds in future seasons.</a:t>
            </a:r>
          </a:p>
          <a:p>
            <a:pPr>
              <a:defRPr sz="1000">
                <a:solidFill>
                  <a:srgbClr val="E2E8F0"/>
                </a:solidFill>
                <a:latin typeface="Calibri"/>
              </a:defRPr>
            </a:pPr>
            <a:r>
              <a:t>▪ 'One year's seeds make years of weeds.'</a:t>
            </a:r>
          </a:p>
          <a:p>
            <a:pPr>
              <a:defRPr sz="1000">
                <a:solidFill>
                  <a:srgbClr val="E2E8F0"/>
                </a:solidFill>
                <a:latin typeface="Calibri"/>
              </a:defRPr>
            </a:pPr>
            <a:r>
              <a:t>▪ Remove weeds before they flower.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Preventive Methods: Stopping Weeds Before They Enter</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05 / 12</a:t>
            </a:r>
          </a:p>
        </p:txBody>
      </p:sp>
      <p:sp>
        <p:nvSpPr>
          <p:cNvPr id="7" name="Rounded Rectangle 6"/>
          <p:cNvSpPr/>
          <p:nvPr/>
        </p:nvSpPr>
        <p:spPr>
          <a:xfrm>
            <a:off x="731520" y="1371600"/>
            <a:ext cx="2468880" cy="484632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2194560" cy="4480559"/>
          </a:xfrm>
          <a:prstGeom prst="rect">
            <a:avLst/>
          </a:prstGeom>
          <a:noFill/>
        </p:spPr>
        <p:txBody>
          <a:bodyPr wrap="square">
            <a:spAutoFit/>
          </a:bodyPr>
          <a:lstStyle/>
          <a:p>
            <a:pPr>
              <a:spcAft>
                <a:spcPts val="1400"/>
              </a:spcAft>
              <a:defRPr sz="1400" b="1">
                <a:solidFill>
                  <a:srgbClr val="22C55E"/>
                </a:solidFill>
                <a:latin typeface="Calibri"/>
              </a:defRPr>
            </a:pPr>
            <a:r>
              <a:t>🌾</a:t>
            </a:r>
            <a:br/>
            <a:r>
              <a:t>Clean Certified Seeds</a:t>
            </a:r>
          </a:p>
          <a:p>
            <a:pPr>
              <a:spcAft>
                <a:spcPts val="1600"/>
              </a:spcAft>
              <a:defRPr sz="1150">
                <a:solidFill>
                  <a:srgbClr val="E2E8F0"/>
                </a:solidFill>
                <a:latin typeface="Calibri"/>
              </a:defRPr>
            </a:pPr>
            <a:r>
              <a:t>Always use certified, pure seeds that are free from any weed seed contamination.</a:t>
            </a:r>
          </a:p>
          <a:p>
            <a:pPr>
              <a:defRPr sz="1050" b="1">
                <a:solidFill>
                  <a:srgbClr val="86EFAC"/>
                </a:solidFill>
                <a:latin typeface="Calibri"/>
              </a:defRPr>
            </a:pPr>
            <a:r>
              <a:t>Benefit:</a:t>
            </a:r>
            <a:br/>
            <a:r>
              <a:t>Stops weeds before they ever start growing.</a:t>
            </a:r>
          </a:p>
        </p:txBody>
      </p:sp>
      <p:sp>
        <p:nvSpPr>
          <p:cNvPr id="9" name="Rounded Rectangle 8"/>
          <p:cNvSpPr/>
          <p:nvPr/>
        </p:nvSpPr>
        <p:spPr>
          <a:xfrm>
            <a:off x="3474720" y="1371600"/>
            <a:ext cx="2468880" cy="484632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554480"/>
            <a:ext cx="2194560" cy="4480559"/>
          </a:xfrm>
          <a:prstGeom prst="rect">
            <a:avLst/>
          </a:prstGeom>
          <a:noFill/>
        </p:spPr>
        <p:txBody>
          <a:bodyPr wrap="square">
            <a:spAutoFit/>
          </a:bodyPr>
          <a:lstStyle/>
          <a:p>
            <a:pPr>
              <a:spcAft>
                <a:spcPts val="1400"/>
              </a:spcAft>
              <a:defRPr sz="1400" b="1">
                <a:solidFill>
                  <a:srgbClr val="F59E0B"/>
                </a:solidFill>
                <a:latin typeface="Calibri"/>
              </a:defRPr>
            </a:pPr>
            <a:r>
              <a:t>🚜</a:t>
            </a:r>
            <a:br/>
            <a:r>
              <a:t>Clean Farm Machinery</a:t>
            </a:r>
          </a:p>
          <a:p>
            <a:pPr>
              <a:spcAft>
                <a:spcPts val="1600"/>
              </a:spcAft>
              <a:defRPr sz="1150">
                <a:solidFill>
                  <a:srgbClr val="E2E8F0"/>
                </a:solidFill>
                <a:latin typeface="Calibri"/>
              </a:defRPr>
            </a:pPr>
            <a:r>
              <a:t>Wash tractors, cultivators, and harvesting equipment before moving from field to field.</a:t>
            </a:r>
          </a:p>
          <a:p>
            <a:pPr>
              <a:defRPr sz="1050" b="1">
                <a:solidFill>
                  <a:srgbClr val="86EFAC"/>
                </a:solidFill>
                <a:latin typeface="Calibri"/>
              </a:defRPr>
            </a:pPr>
            <a:r>
              <a:t>Benefit:</a:t>
            </a:r>
            <a:br/>
            <a:r>
              <a:t>Stops weeds before they ever start growing.</a:t>
            </a:r>
          </a:p>
        </p:txBody>
      </p:sp>
      <p:sp>
        <p:nvSpPr>
          <p:cNvPr id="11" name="Rounded Rectangle 10"/>
          <p:cNvSpPr/>
          <p:nvPr/>
        </p:nvSpPr>
        <p:spPr>
          <a:xfrm>
            <a:off x="6217920" y="1371600"/>
            <a:ext cx="2468880" cy="484632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54480"/>
            <a:ext cx="2194560" cy="4480559"/>
          </a:xfrm>
          <a:prstGeom prst="rect">
            <a:avLst/>
          </a:prstGeom>
          <a:noFill/>
        </p:spPr>
        <p:txBody>
          <a:bodyPr wrap="square">
            <a:spAutoFit/>
          </a:bodyPr>
          <a:lstStyle/>
          <a:p>
            <a:pPr>
              <a:spcAft>
                <a:spcPts val="1400"/>
              </a:spcAft>
              <a:defRPr sz="1400" b="1">
                <a:solidFill>
                  <a:srgbClr val="06B6D4"/>
                </a:solidFill>
                <a:latin typeface="Calibri"/>
              </a:defRPr>
            </a:pPr>
            <a:r>
              <a:t>🧪</a:t>
            </a:r>
            <a:br/>
            <a:r>
              <a:t>Well-Rotted Compost &amp; Manure</a:t>
            </a:r>
          </a:p>
          <a:p>
            <a:pPr>
              <a:spcAft>
                <a:spcPts val="1600"/>
              </a:spcAft>
              <a:defRPr sz="1150">
                <a:solidFill>
                  <a:srgbClr val="E2E8F0"/>
                </a:solidFill>
                <a:latin typeface="Calibri"/>
              </a:defRPr>
            </a:pPr>
            <a:r>
              <a:t>Only apply fully decomposed manure so that any weed seeds inside have been destroyed by natural heat.</a:t>
            </a:r>
          </a:p>
          <a:p>
            <a:pPr>
              <a:defRPr sz="1050" b="1">
                <a:solidFill>
                  <a:srgbClr val="86EFAC"/>
                </a:solidFill>
                <a:latin typeface="Calibri"/>
              </a:defRPr>
            </a:pPr>
            <a:r>
              <a:t>Benefit:</a:t>
            </a:r>
            <a:br/>
            <a:r>
              <a:t>Stops weeds before they ever start growing.</a:t>
            </a:r>
          </a:p>
        </p:txBody>
      </p:sp>
      <p:sp>
        <p:nvSpPr>
          <p:cNvPr id="13" name="Rounded Rectangle 12"/>
          <p:cNvSpPr/>
          <p:nvPr/>
        </p:nvSpPr>
        <p:spPr>
          <a:xfrm>
            <a:off x="8961120" y="1371600"/>
            <a:ext cx="2468880" cy="484632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554480"/>
            <a:ext cx="2194560" cy="4480559"/>
          </a:xfrm>
          <a:prstGeom prst="rect">
            <a:avLst/>
          </a:prstGeom>
          <a:noFill/>
        </p:spPr>
        <p:txBody>
          <a:bodyPr wrap="square">
            <a:spAutoFit/>
          </a:bodyPr>
          <a:lstStyle/>
          <a:p>
            <a:pPr>
              <a:spcAft>
                <a:spcPts val="1400"/>
              </a:spcAft>
              <a:defRPr sz="1400" b="1">
                <a:solidFill>
                  <a:srgbClr val="FFFFFF"/>
                </a:solidFill>
                <a:latin typeface="Calibri"/>
              </a:defRPr>
            </a:pPr>
            <a:r>
              <a:t>🌊</a:t>
            </a:r>
            <a:br/>
            <a:r>
              <a:t>Clean Irrigation &amp; Field Borders</a:t>
            </a:r>
          </a:p>
          <a:p>
            <a:pPr>
              <a:spcAft>
                <a:spcPts val="1600"/>
              </a:spcAft>
              <a:defRPr sz="1150">
                <a:solidFill>
                  <a:srgbClr val="E2E8F0"/>
                </a:solidFill>
                <a:latin typeface="Calibri"/>
              </a:defRPr>
            </a:pPr>
            <a:r>
              <a:t>Keep irrigation canals and field borders clear of weeds so seeds do not wash or blow into crops.</a:t>
            </a:r>
          </a:p>
          <a:p>
            <a:pPr>
              <a:defRPr sz="1050" b="1">
                <a:solidFill>
                  <a:srgbClr val="86EFAC"/>
                </a:solidFill>
                <a:latin typeface="Calibri"/>
              </a:defRPr>
            </a:pPr>
            <a:r>
              <a:t>Benefit:</a:t>
            </a:r>
            <a:br/>
            <a:r>
              <a:t>Stops weeds before they ever start growing.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Cultural Methods: Agronomic Farming Practices</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06 / 12</a:t>
            </a:r>
          </a:p>
        </p:txBody>
      </p:sp>
      <p:pic>
        <p:nvPicPr>
          <p:cNvPr id="7" name="Picture 6" descr="cover_crop_mulching.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22C55E"/>
                </a:solidFill>
                <a:latin typeface="Calibri"/>
              </a:defRPr>
            </a:pPr>
            <a:r>
              <a:t>🌱  Stale Seedbed Preparation</a:t>
            </a:r>
          </a:p>
          <a:p>
            <a:pPr>
              <a:defRPr sz="1100">
                <a:solidFill>
                  <a:srgbClr val="E2E8F0"/>
                </a:solidFill>
                <a:latin typeface="Calibri"/>
              </a:defRPr>
            </a:pPr>
            <a:r>
              <a:t>Water the soil before sowing, let weeds sprout, kill them with shallow tillage, and then sow your crop into a clean bed.</a:t>
            </a:r>
          </a:p>
        </p:txBody>
      </p:sp>
      <p:sp>
        <p:nvSpPr>
          <p:cNvPr id="10" name="Rounded Rectangle 9"/>
          <p:cNvSpPr/>
          <p:nvPr/>
        </p:nvSpPr>
        <p:spPr>
          <a:xfrm>
            <a:off x="5394960" y="260604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F59E0B"/>
                </a:solidFill>
                <a:latin typeface="Calibri"/>
              </a:defRPr>
            </a:pPr>
            <a:r>
              <a:t>🔄  Crop Rotation</a:t>
            </a:r>
          </a:p>
          <a:p>
            <a:pPr>
              <a:defRPr sz="1100">
                <a:solidFill>
                  <a:srgbClr val="E2E8F0"/>
                </a:solidFill>
                <a:latin typeface="Calibri"/>
              </a:defRPr>
            </a:pPr>
            <a:r>
              <a:t>Alternate different crops each season to disrupt the life cycles of specific weeds.</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Proper Plant Spacing &amp; Density</a:t>
            </a:r>
          </a:p>
          <a:p>
            <a:pPr>
              <a:defRPr sz="1100">
                <a:solidFill>
                  <a:srgbClr val="E2E8F0"/>
                </a:solidFill>
                <a:latin typeface="Calibri"/>
              </a:defRPr>
            </a:pPr>
            <a:r>
              <a:t>Plant crops at the right spacing so crop leaves grow together quickly and shade out weeds.</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Cover Crops &amp; Intercropping</a:t>
            </a:r>
          </a:p>
          <a:p>
            <a:pPr>
              <a:defRPr sz="1100">
                <a:solidFill>
                  <a:srgbClr val="E2E8F0"/>
                </a:solidFill>
                <a:latin typeface="Calibri"/>
              </a:defRPr>
            </a:pPr>
            <a:r>
              <a:t>Grow fast-growing cover crops between crop rows to blanket the soil and smother weeds.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Mechanical Methods: Physical Tools &amp; Machinery</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07 / 12</a:t>
            </a:r>
          </a:p>
        </p:txBody>
      </p:sp>
      <p:pic>
        <p:nvPicPr>
          <p:cNvPr id="7" name="Picture 6" descr="mechanical_weeding_tractor.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22C55E"/>
                </a:solidFill>
                <a:latin typeface="Calibri"/>
              </a:defRPr>
            </a:pPr>
            <a:r>
              <a:t>🛠️  Hand Weeding &amp; Hoeing</a:t>
            </a:r>
          </a:p>
          <a:p>
            <a:pPr>
              <a:defRPr sz="1100">
                <a:solidFill>
                  <a:srgbClr val="E2E8F0"/>
                </a:solidFill>
                <a:latin typeface="Calibri"/>
              </a:defRPr>
            </a:pPr>
            <a:r>
              <a:t>Physically pulling or cutting weeds using simple hand tools like a hoe or khurpi around crop plants.</a:t>
            </a:r>
          </a:p>
        </p:txBody>
      </p:sp>
      <p:sp>
        <p:nvSpPr>
          <p:cNvPr id="10" name="Rounded Rectangle 9"/>
          <p:cNvSpPr/>
          <p:nvPr/>
        </p:nvSpPr>
        <p:spPr>
          <a:xfrm>
            <a:off x="5394960" y="260604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F59E0B"/>
                </a:solidFill>
                <a:latin typeface="Calibri"/>
              </a:defRPr>
            </a:pPr>
            <a:r>
              <a:t>🚜  Tractor Inter-Row Cultivators</a:t>
            </a:r>
          </a:p>
          <a:p>
            <a:pPr>
              <a:defRPr sz="1100">
                <a:solidFill>
                  <a:srgbClr val="E2E8F0"/>
                </a:solidFill>
                <a:latin typeface="Calibri"/>
              </a:defRPr>
            </a:pPr>
            <a:r>
              <a:t>Using tractor-mounted rotary weeders or tines to cultivate and uproot weeds between crop rows quickly.</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Mowing &amp; Slashing</a:t>
            </a:r>
          </a:p>
          <a:p>
            <a:pPr>
              <a:defRPr sz="1100">
                <a:solidFill>
                  <a:srgbClr val="E2E8F0"/>
                </a:solidFill>
                <a:latin typeface="Calibri"/>
              </a:defRPr>
            </a:pPr>
            <a:r>
              <a:t>Cutting tall weeds before they flower, especially along field borders, orchards, and plantation rows.</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Soil Solarization</a:t>
            </a:r>
          </a:p>
          <a:p>
            <a:pPr>
              <a:defRPr sz="1100">
                <a:solidFill>
                  <a:srgbClr val="E2E8F0"/>
                </a:solidFill>
                <a:latin typeface="Calibri"/>
              </a:defRPr>
            </a:pPr>
            <a:r>
              <a:t>Covering moist soil with clear plastic sheets during hot sunny weeks to heat the soil and kill weed seeds.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Mulching Methods: Organic &amp; Plastic Soil Covers</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08 / 12</a:t>
            </a:r>
          </a:p>
        </p:txBody>
      </p:sp>
      <p:pic>
        <p:nvPicPr>
          <p:cNvPr id="7" name="Picture 6" descr="organic_plastic_mulching.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22C55E"/>
                </a:solidFill>
                <a:latin typeface="Calibri"/>
              </a:defRPr>
            </a:pPr>
            <a:r>
              <a:t>🛡️  What is Mulching?</a:t>
            </a:r>
          </a:p>
          <a:p>
            <a:pPr>
              <a:defRPr sz="1100">
                <a:solidFill>
                  <a:srgbClr val="E2E8F0"/>
                </a:solidFill>
                <a:latin typeface="Calibri"/>
              </a:defRPr>
            </a:pPr>
            <a:r>
              <a:t>Mulching means covering the bare soil around crops. It blocks sunlight so weed seeds cannot sprout, while holding moisture in the soil.</a:t>
            </a:r>
          </a:p>
        </p:txBody>
      </p:sp>
      <p:sp>
        <p:nvSpPr>
          <p:cNvPr id="10" name="Rounded Rectangle 9"/>
          <p:cNvSpPr/>
          <p:nvPr/>
        </p:nvSpPr>
        <p:spPr>
          <a:xfrm>
            <a:off x="5394960" y="260604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F59E0B"/>
                </a:solidFill>
                <a:latin typeface="Calibri"/>
              </a:defRPr>
            </a:pPr>
            <a:r>
              <a:t>🌾  Organic Mulch (Straw &amp; Leaves)</a:t>
            </a:r>
          </a:p>
          <a:p>
            <a:pPr>
              <a:defRPr sz="1100">
                <a:solidFill>
                  <a:srgbClr val="E2E8F0"/>
                </a:solidFill>
                <a:latin typeface="Calibri"/>
              </a:defRPr>
            </a:pPr>
            <a:r>
              <a:t>Using dry straw, dried leaves, or crop residue. Naturally decomposes over time and adds organic matter to the soil.</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Plastic Mulch (Black Film)</a:t>
            </a:r>
          </a:p>
          <a:p>
            <a:pPr>
              <a:defRPr sz="1100">
                <a:solidFill>
                  <a:srgbClr val="E2E8F0"/>
                </a:solidFill>
                <a:latin typeface="Calibri"/>
              </a:defRPr>
            </a:pPr>
            <a:r>
              <a:t>Laying black or silver polyethylene sheets over raised beds with small holes for crop seedlings. Widely used for vegetables and fruits.</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Key Benefits of Mulching</a:t>
            </a:r>
          </a:p>
          <a:p>
            <a:pPr>
              <a:defRPr sz="1100">
                <a:solidFill>
                  <a:srgbClr val="E2E8F0"/>
                </a:solidFill>
                <a:latin typeface="Calibri"/>
              </a:defRPr>
            </a:pPr>
            <a:r>
              <a:t>• Blocks 90%+ of weed growth.</a:t>
            </a:r>
            <a:br/>
            <a:r>
              <a:t>• Saves up to 50% of irrigation water.</a:t>
            </a:r>
            <a:br/>
            <a:r>
              <a:t>• Keeps soil cool and prevents soil erosion.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Biological Methods: Natural Weed Control</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09 / 12</a:t>
            </a:r>
          </a:p>
        </p:txBody>
      </p:sp>
      <p:pic>
        <p:nvPicPr>
          <p:cNvPr id="7" name="Picture 6" descr="biological_control_insect.jpg"/>
          <p:cNvPicPr>
            <a:picLocks noChangeAspect="1"/>
          </p:cNvPicPr>
          <p:nvPr/>
        </p:nvPicPr>
        <p:blipFill>
          <a:blip r:embed="rId2"/>
          <a:stretch>
            <a:fillRect/>
          </a:stretch>
        </p:blipFill>
        <p:spPr>
          <a:xfrm>
            <a:off x="731520" y="1371600"/>
            <a:ext cx="4389120" cy="4846320"/>
          </a:xfrm>
          <a:prstGeom prst="rect">
            <a:avLst/>
          </a:prstGeom>
        </p:spPr>
      </p:pic>
      <p:sp>
        <p:nvSpPr>
          <p:cNvPr id="8" name="Rounded Rectangle 7"/>
          <p:cNvSpPr/>
          <p:nvPr/>
        </p:nvSpPr>
        <p:spPr>
          <a:xfrm>
            <a:off x="5394960" y="1371600"/>
            <a:ext cx="6035040" cy="109728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444752"/>
            <a:ext cx="5760720" cy="960120"/>
          </a:xfrm>
          <a:prstGeom prst="rect">
            <a:avLst/>
          </a:prstGeom>
          <a:noFill/>
        </p:spPr>
        <p:txBody>
          <a:bodyPr wrap="square">
            <a:spAutoFit/>
          </a:bodyPr>
          <a:lstStyle/>
          <a:p>
            <a:pPr>
              <a:spcAft>
                <a:spcPts val="400"/>
              </a:spcAft>
              <a:defRPr sz="1350" b="1">
                <a:solidFill>
                  <a:srgbClr val="22C55E"/>
                </a:solidFill>
                <a:latin typeface="Calibri"/>
              </a:defRPr>
            </a:pPr>
            <a:r>
              <a:t>🐞  Beneficial Insects</a:t>
            </a:r>
          </a:p>
          <a:p>
            <a:pPr>
              <a:defRPr sz="1100">
                <a:solidFill>
                  <a:srgbClr val="E2E8F0"/>
                </a:solidFill>
                <a:latin typeface="Calibri"/>
              </a:defRPr>
            </a:pPr>
            <a:r>
              <a:t>Releasing specific insects that feed exclusively on harmful weeds without eating or damaging farm crops.</a:t>
            </a:r>
          </a:p>
        </p:txBody>
      </p:sp>
      <p:sp>
        <p:nvSpPr>
          <p:cNvPr id="10" name="Rounded Rectangle 9"/>
          <p:cNvSpPr/>
          <p:nvPr/>
        </p:nvSpPr>
        <p:spPr>
          <a:xfrm>
            <a:off x="5394960" y="2606040"/>
            <a:ext cx="6035040" cy="109728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679192"/>
            <a:ext cx="5760720" cy="960120"/>
          </a:xfrm>
          <a:prstGeom prst="rect">
            <a:avLst/>
          </a:prstGeom>
          <a:noFill/>
        </p:spPr>
        <p:txBody>
          <a:bodyPr wrap="square">
            <a:spAutoFit/>
          </a:bodyPr>
          <a:lstStyle/>
          <a:p>
            <a:pPr>
              <a:spcAft>
                <a:spcPts val="400"/>
              </a:spcAft>
              <a:defRPr sz="1350" b="1">
                <a:solidFill>
                  <a:srgbClr val="F59E0B"/>
                </a:solidFill>
                <a:latin typeface="Calibri"/>
              </a:defRPr>
            </a:pPr>
            <a:r>
              <a:t>🍄  Natural Bio-Agents &amp; Fungi</a:t>
            </a:r>
          </a:p>
          <a:p>
            <a:pPr>
              <a:defRPr sz="1100">
                <a:solidFill>
                  <a:srgbClr val="E2E8F0"/>
                </a:solidFill>
                <a:latin typeface="Calibri"/>
              </a:defRPr>
            </a:pPr>
            <a:r>
              <a:t>Using specific natural fungi or microorganisms that target and weaken particular weed species.</a:t>
            </a:r>
          </a:p>
        </p:txBody>
      </p:sp>
      <p:sp>
        <p:nvSpPr>
          <p:cNvPr id="12" name="Rounded Rectangle 11"/>
          <p:cNvSpPr/>
          <p:nvPr/>
        </p:nvSpPr>
        <p:spPr>
          <a:xfrm>
            <a:off x="5394960" y="3840480"/>
            <a:ext cx="6035040" cy="1097280"/>
          </a:xfrm>
          <a:prstGeom prst="roundRect">
            <a:avLst/>
          </a:prstGeom>
          <a:solidFill>
            <a:srgbClr val="14241A"/>
          </a:solidFill>
          <a:ln w="222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3913632"/>
            <a:ext cx="5760720" cy="960120"/>
          </a:xfrm>
          <a:prstGeom prst="rect">
            <a:avLst/>
          </a:prstGeom>
          <a:noFill/>
        </p:spPr>
        <p:txBody>
          <a:bodyPr wrap="square">
            <a:spAutoFit/>
          </a:bodyPr>
          <a:lstStyle/>
          <a:p>
            <a:pPr>
              <a:spcAft>
                <a:spcPts val="400"/>
              </a:spcAft>
              <a:defRPr sz="1350" b="1">
                <a:solidFill>
                  <a:srgbClr val="06B6D4"/>
                </a:solidFill>
                <a:latin typeface="Calibri"/>
              </a:defRPr>
            </a:pPr>
            <a:r>
              <a:t>🦆  Grazing Animals &amp; Ducks</a:t>
            </a:r>
          </a:p>
          <a:p>
            <a:pPr>
              <a:defRPr sz="1100">
                <a:solidFill>
                  <a:srgbClr val="E2E8F0"/>
                </a:solidFill>
                <a:latin typeface="Calibri"/>
              </a:defRPr>
            </a:pPr>
            <a:r>
              <a:t>Using ducks in rice fields or grazing animals in orchards to eat weed shoots naturally.</a:t>
            </a:r>
          </a:p>
        </p:txBody>
      </p:sp>
      <p:sp>
        <p:nvSpPr>
          <p:cNvPr id="14" name="Rounded Rectangle 13"/>
          <p:cNvSpPr/>
          <p:nvPr/>
        </p:nvSpPr>
        <p:spPr>
          <a:xfrm>
            <a:off x="5394960" y="5074920"/>
            <a:ext cx="6035040" cy="1097280"/>
          </a:xfrm>
          <a:prstGeom prst="roundRect">
            <a:avLst/>
          </a:prstGeom>
          <a:solidFill>
            <a:srgbClr val="14241A"/>
          </a:solidFill>
          <a:ln w="222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5148072"/>
            <a:ext cx="5760720" cy="960120"/>
          </a:xfrm>
          <a:prstGeom prst="rect">
            <a:avLst/>
          </a:prstGeom>
          <a:noFill/>
        </p:spPr>
        <p:txBody>
          <a:bodyPr wrap="square">
            <a:spAutoFit/>
          </a:bodyPr>
          <a:lstStyle/>
          <a:p>
            <a:pPr>
              <a:spcAft>
                <a:spcPts val="400"/>
              </a:spcAft>
              <a:defRPr sz="1350" b="1">
                <a:solidFill>
                  <a:srgbClr val="FFFFFF"/>
                </a:solidFill>
                <a:latin typeface="Calibri"/>
              </a:defRPr>
            </a:pPr>
            <a:r>
              <a:t>🌿  Major Benefit</a:t>
            </a:r>
          </a:p>
          <a:p>
            <a:pPr>
              <a:defRPr sz="1100">
                <a:solidFill>
                  <a:srgbClr val="E2E8F0"/>
                </a:solidFill>
                <a:latin typeface="Calibri"/>
              </a:defRPr>
            </a:pPr>
            <a:r>
              <a:t>100% eco-friendly, zero chemical residues, and completely safe for soil, pollinators, and people.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Comparison: Advantages &amp; Practical Limitations</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10 / 12</a:t>
            </a:r>
          </a:p>
        </p:txBody>
      </p:sp>
      <p:sp>
        <p:nvSpPr>
          <p:cNvPr id="7" name="Rounded Rectangle 6"/>
          <p:cNvSpPr/>
          <p:nvPr/>
        </p:nvSpPr>
        <p:spPr>
          <a:xfrm>
            <a:off x="731520" y="1371600"/>
            <a:ext cx="5120640" cy="484632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4480560"/>
          </a:xfrm>
          <a:prstGeom prst="rect">
            <a:avLst/>
          </a:prstGeom>
          <a:noFill/>
        </p:spPr>
        <p:txBody>
          <a:bodyPr wrap="square">
            <a:spAutoFit/>
          </a:bodyPr>
          <a:lstStyle/>
          <a:p>
            <a:pPr>
              <a:spcAft>
                <a:spcPts val="1400"/>
              </a:spcAft>
              <a:defRPr sz="1600" b="1">
                <a:solidFill>
                  <a:srgbClr val="22C55E"/>
                </a:solidFill>
                <a:latin typeface="Calibri"/>
              </a:defRPr>
            </a:pPr>
            <a:r>
              <a:t>✅ Advantages of Weed Management</a:t>
            </a:r>
          </a:p>
          <a:p>
            <a:pPr>
              <a:defRPr sz="1200" b="1">
                <a:solidFill>
                  <a:srgbClr val="FFFFFF"/>
                </a:solidFill>
                <a:latin typeface="Calibri"/>
              </a:defRPr>
            </a:pPr>
            <a:r>
              <a:t>✔ Higher Crop Yields</a:t>
            </a:r>
          </a:p>
          <a:p>
            <a:pPr>
              <a:spcAft>
                <a:spcPts val="600"/>
              </a:spcAft>
              <a:defRPr sz="1050">
                <a:solidFill>
                  <a:srgbClr val="E2E8F0"/>
                </a:solidFill>
                <a:latin typeface="Calibri"/>
              </a:defRPr>
            </a:pPr>
            <a:r>
              <a:t>   ↳ Increases harvest yield by giving crops full access to nutrients and light.</a:t>
            </a:r>
          </a:p>
          <a:p>
            <a:pPr>
              <a:defRPr sz="1200" b="1">
                <a:solidFill>
                  <a:srgbClr val="FFFFFF"/>
                </a:solidFill>
                <a:latin typeface="Calibri"/>
              </a:defRPr>
            </a:pPr>
            <a:r>
              <a:t>✔ Saves Water &amp; Fertilizers</a:t>
            </a:r>
          </a:p>
          <a:p>
            <a:pPr>
              <a:spcAft>
                <a:spcPts val="600"/>
              </a:spcAft>
              <a:defRPr sz="1050">
                <a:solidFill>
                  <a:srgbClr val="E2E8F0"/>
                </a:solidFill>
                <a:latin typeface="Calibri"/>
              </a:defRPr>
            </a:pPr>
            <a:r>
              <a:t>   ↳ Ensures irrigation and fertilizer nourish crops, not weeds.</a:t>
            </a:r>
          </a:p>
          <a:p>
            <a:pPr>
              <a:defRPr sz="1200" b="1">
                <a:solidFill>
                  <a:srgbClr val="FFFFFF"/>
                </a:solidFill>
                <a:latin typeface="Calibri"/>
              </a:defRPr>
            </a:pPr>
            <a:r>
              <a:t>✔ Better Produce Quality</a:t>
            </a:r>
          </a:p>
          <a:p>
            <a:pPr>
              <a:spcAft>
                <a:spcPts val="600"/>
              </a:spcAft>
              <a:defRPr sz="1050">
                <a:solidFill>
                  <a:srgbClr val="E2E8F0"/>
                </a:solidFill>
                <a:latin typeface="Calibri"/>
              </a:defRPr>
            </a:pPr>
            <a:r>
              <a:t>   ↳ Delivers clean, weed-free harvest that commands higher market prices.</a:t>
            </a:r>
          </a:p>
          <a:p>
            <a:pPr>
              <a:defRPr sz="1200" b="1">
                <a:solidFill>
                  <a:srgbClr val="FFFFFF"/>
                </a:solidFill>
                <a:latin typeface="Calibri"/>
              </a:defRPr>
            </a:pPr>
            <a:r>
              <a:t>✔ Fewer Pests &amp; Diseases</a:t>
            </a:r>
          </a:p>
          <a:p>
            <a:pPr>
              <a:spcAft>
                <a:spcPts val="600"/>
              </a:spcAft>
              <a:defRPr sz="1050">
                <a:solidFill>
                  <a:srgbClr val="E2E8F0"/>
                </a:solidFill>
                <a:latin typeface="Calibri"/>
              </a:defRPr>
            </a:pPr>
            <a:r>
              <a:t>   ↳ Removes the shelter and breeding places of harmful crop pests.</a:t>
            </a:r>
          </a:p>
          <a:p>
            <a:pPr>
              <a:defRPr sz="1200" b="1">
                <a:solidFill>
                  <a:srgbClr val="FFFFFF"/>
                </a:solidFill>
                <a:latin typeface="Calibri"/>
              </a:defRPr>
            </a:pPr>
            <a:r>
              <a:t>✔ Long-Term Soil Health</a:t>
            </a:r>
          </a:p>
          <a:p>
            <a:pPr>
              <a:spcAft>
                <a:spcPts val="600"/>
              </a:spcAft>
              <a:defRPr sz="1050">
                <a:solidFill>
                  <a:srgbClr val="E2E8F0"/>
                </a:solidFill>
                <a:latin typeface="Calibri"/>
              </a:defRPr>
            </a:pPr>
            <a:r>
              <a:t>   ↳ Reduces weed seed buildup in the soil for easier future farming.</a:t>
            </a:r>
          </a:p>
        </p:txBody>
      </p:sp>
      <p:sp>
        <p:nvSpPr>
          <p:cNvPr id="9" name="Rounded Rectangle 8"/>
          <p:cNvSpPr/>
          <p:nvPr/>
        </p:nvSpPr>
        <p:spPr>
          <a:xfrm>
            <a:off x="6217920" y="1371600"/>
            <a:ext cx="5212080" cy="4846320"/>
          </a:xfrm>
          <a:prstGeom prst="roundRect">
            <a:avLst/>
          </a:prstGeom>
          <a:solidFill>
            <a:srgbClr val="14241A"/>
          </a:solidFill>
          <a:ln w="222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4480560"/>
          </a:xfrm>
          <a:prstGeom prst="rect">
            <a:avLst/>
          </a:prstGeom>
          <a:noFill/>
        </p:spPr>
        <p:txBody>
          <a:bodyPr wrap="square">
            <a:spAutoFit/>
          </a:bodyPr>
          <a:lstStyle/>
          <a:p>
            <a:pPr>
              <a:spcAft>
                <a:spcPts val="1400"/>
              </a:spcAft>
              <a:defRPr sz="1600" b="1">
                <a:solidFill>
                  <a:srgbClr val="EF4444"/>
                </a:solidFill>
                <a:latin typeface="Calibri"/>
              </a:defRPr>
            </a:pPr>
            <a:r>
              <a:t>⚠️ Limitations &amp; Practical Challenges</a:t>
            </a:r>
          </a:p>
          <a:p>
            <a:pPr>
              <a:defRPr sz="1200" b="1">
                <a:solidFill>
                  <a:srgbClr val="F59E0B"/>
                </a:solidFill>
                <a:latin typeface="Calibri"/>
              </a:defRPr>
            </a:pPr>
            <a:r>
              <a:t>✖ High Labor Demand</a:t>
            </a:r>
          </a:p>
          <a:p>
            <a:pPr>
              <a:spcAft>
                <a:spcPts val="800"/>
              </a:spcAft>
              <a:defRPr sz="1050">
                <a:solidFill>
                  <a:srgbClr val="E2E8F0"/>
                </a:solidFill>
                <a:latin typeface="Calibri"/>
              </a:defRPr>
            </a:pPr>
            <a:r>
              <a:t>   ↳ Hand weeding requires significant time and manual labor during busy seasons.</a:t>
            </a:r>
          </a:p>
          <a:p>
            <a:pPr>
              <a:defRPr sz="1200" b="1">
                <a:solidFill>
                  <a:srgbClr val="F59E0B"/>
                </a:solidFill>
                <a:latin typeface="Calibri"/>
              </a:defRPr>
            </a:pPr>
            <a:r>
              <a:t>✖ Equipment &amp; Material Costs</a:t>
            </a:r>
          </a:p>
          <a:p>
            <a:pPr>
              <a:spcAft>
                <a:spcPts val="800"/>
              </a:spcAft>
              <a:defRPr sz="1050">
                <a:solidFill>
                  <a:srgbClr val="E2E8F0"/>
                </a:solidFill>
                <a:latin typeface="Calibri"/>
              </a:defRPr>
            </a:pPr>
            <a:r>
              <a:t>   ↳ Tractor weeders and plastic mulches require upfront purchase costs.</a:t>
            </a:r>
          </a:p>
          <a:p>
            <a:pPr>
              <a:defRPr sz="1200" b="1">
                <a:solidFill>
                  <a:srgbClr val="F59E0B"/>
                </a:solidFill>
                <a:latin typeface="Calibri"/>
              </a:defRPr>
            </a:pPr>
            <a:r>
              <a:t>✖ Weather Dependence</a:t>
            </a:r>
          </a:p>
          <a:p>
            <a:pPr>
              <a:spcAft>
                <a:spcPts val="800"/>
              </a:spcAft>
              <a:defRPr sz="1050">
                <a:solidFill>
                  <a:srgbClr val="E2E8F0"/>
                </a:solidFill>
                <a:latin typeface="Calibri"/>
              </a:defRPr>
            </a:pPr>
            <a:r>
              <a:t>   ↳ Heavy rains and wet soil can delay mechanical weeding operations.</a:t>
            </a:r>
          </a:p>
          <a:p>
            <a:pPr>
              <a:defRPr sz="1200" b="1">
                <a:solidFill>
                  <a:srgbClr val="F59E0B"/>
                </a:solidFill>
                <a:latin typeface="Calibri"/>
              </a:defRPr>
            </a:pPr>
            <a:r>
              <a:t>✖ Plastic Waste Management</a:t>
            </a:r>
          </a:p>
          <a:p>
            <a:pPr>
              <a:spcAft>
                <a:spcPts val="800"/>
              </a:spcAft>
              <a:defRPr sz="1050">
                <a:solidFill>
                  <a:srgbClr val="E2E8F0"/>
                </a:solidFill>
                <a:latin typeface="Calibri"/>
              </a:defRPr>
            </a:pPr>
            <a:r>
              <a:t>   ↳ Plastic mulch sheets must be collected after harvest to avoid farm waste.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320040"/>
          </a:xfrm>
          <a:prstGeom prst="rect">
            <a:avLst/>
          </a:prstGeom>
          <a:noFill/>
        </p:spPr>
        <p:txBody>
          <a:bodyPr wrap="square">
            <a:spAutoFit/>
          </a:bodyPr>
          <a:lstStyle/>
          <a:p>
            <a:pPr>
              <a:defRPr sz="1100" b="1">
                <a:solidFill>
                  <a:srgbClr val="22C55E"/>
                </a:solidFill>
                <a:latin typeface="Calibri"/>
              </a:defRPr>
            </a:pPr>
            <a:r>
              <a:t>• WEED MANAGEMENT</a:t>
            </a:r>
          </a:p>
        </p:txBody>
      </p:sp>
      <p:sp>
        <p:nvSpPr>
          <p:cNvPr id="5" name="TextBox 4"/>
          <p:cNvSpPr txBox="1"/>
          <p:nvPr/>
        </p:nvSpPr>
        <p:spPr>
          <a:xfrm>
            <a:off x="731520" y="594360"/>
            <a:ext cx="9601200" cy="640080"/>
          </a:xfrm>
          <a:prstGeom prst="rect">
            <a:avLst/>
          </a:prstGeom>
          <a:noFill/>
        </p:spPr>
        <p:txBody>
          <a:bodyPr wrap="square">
            <a:spAutoFit/>
          </a:bodyPr>
          <a:lstStyle/>
          <a:p>
            <a:pPr>
              <a:defRPr sz="2200" b="1">
                <a:solidFill>
                  <a:srgbClr val="FFFFFF"/>
                </a:solidFill>
                <a:latin typeface="Calibri"/>
              </a:defRPr>
            </a:pPr>
            <a:r>
              <a:t>Conclusion: 5 Key Golden Takeaways</a:t>
            </a:r>
          </a:p>
        </p:txBody>
      </p:sp>
      <p:sp>
        <p:nvSpPr>
          <p:cNvPr id="6" name="TextBox 5"/>
          <p:cNvSpPr txBox="1"/>
          <p:nvPr/>
        </p:nvSpPr>
        <p:spPr>
          <a:xfrm>
            <a:off x="10332720" y="320040"/>
            <a:ext cx="1371600" cy="365760"/>
          </a:xfrm>
          <a:prstGeom prst="rect">
            <a:avLst/>
          </a:prstGeom>
          <a:noFill/>
        </p:spPr>
        <p:txBody>
          <a:bodyPr wrap="none">
            <a:spAutoFit/>
          </a:bodyPr>
          <a:lstStyle/>
          <a:p>
            <a:pPr algn="r">
              <a:defRPr sz="1100" b="1">
                <a:solidFill>
                  <a:srgbClr val="F59E0B"/>
                </a:solidFill>
                <a:latin typeface="Calibri"/>
              </a:defRPr>
            </a:pPr>
            <a:r>
              <a:t>Slide 11 / 12</a:t>
            </a:r>
          </a:p>
        </p:txBody>
      </p:sp>
      <p:sp>
        <p:nvSpPr>
          <p:cNvPr id="7" name="Rounded Rectangle 6"/>
          <p:cNvSpPr/>
          <p:nvPr/>
        </p:nvSpPr>
        <p:spPr>
          <a:xfrm>
            <a:off x="731520" y="1371600"/>
            <a:ext cx="10698480" cy="4846320"/>
          </a:xfrm>
          <a:prstGeom prst="roundRect">
            <a:avLst/>
          </a:prstGeom>
          <a:solidFill>
            <a:srgbClr val="14241A"/>
          </a:solidFill>
          <a:ln w="222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10149840" cy="4480560"/>
          </a:xfrm>
          <a:prstGeom prst="rect">
            <a:avLst/>
          </a:prstGeom>
          <a:noFill/>
        </p:spPr>
        <p:txBody>
          <a:bodyPr wrap="square">
            <a:spAutoFit/>
          </a:bodyPr>
          <a:lstStyle/>
          <a:p>
            <a:pPr>
              <a:spcAft>
                <a:spcPts val="1400"/>
              </a:spcAft>
              <a:defRPr sz="1600" b="1">
                <a:solidFill>
                  <a:srgbClr val="22C55E"/>
                </a:solidFill>
                <a:latin typeface="Calibri"/>
              </a:defRPr>
            </a:pPr>
            <a:r>
              <a:t>🎯 Summary for Successful Weed Management</a:t>
            </a:r>
          </a:p>
          <a:p>
            <a:pPr>
              <a:defRPr sz="1300" b="1">
                <a:solidFill>
                  <a:srgbClr val="F59E0B"/>
                </a:solidFill>
                <a:latin typeface="Calibri"/>
              </a:defRPr>
            </a:pPr>
            <a:r>
              <a:t>✔  1. Start Clean:</a:t>
            </a:r>
          </a:p>
          <a:p>
            <a:pPr>
              <a:spcAft>
                <a:spcPts val="800"/>
              </a:spcAft>
              <a:defRPr sz="1150">
                <a:solidFill>
                  <a:srgbClr val="FFFFFF"/>
                </a:solidFill>
                <a:latin typeface="Calibri"/>
              </a:defRPr>
            </a:pPr>
            <a:r>
              <a:t>    Always use certified clean seeds and sanitized equipment before planting.</a:t>
            </a:r>
          </a:p>
          <a:p>
            <a:pPr>
              <a:defRPr sz="1300" b="1">
                <a:solidFill>
                  <a:srgbClr val="F59E0B"/>
                </a:solidFill>
                <a:latin typeface="Calibri"/>
              </a:defRPr>
            </a:pPr>
            <a:r>
              <a:t>✔  2. Act Early:</a:t>
            </a:r>
          </a:p>
          <a:p>
            <a:pPr>
              <a:spcAft>
                <a:spcPts val="800"/>
              </a:spcAft>
              <a:defRPr sz="1150">
                <a:solidFill>
                  <a:srgbClr val="FFFFFF"/>
                </a:solidFill>
                <a:latin typeface="Calibri"/>
              </a:defRPr>
            </a:pPr>
            <a:r>
              <a:t>    Keep crops weed-free during the critical first 30 days of growth.</a:t>
            </a:r>
          </a:p>
          <a:p>
            <a:pPr>
              <a:defRPr sz="1300" b="1">
                <a:solidFill>
                  <a:srgbClr val="F59E0B"/>
                </a:solidFill>
                <a:latin typeface="Calibri"/>
              </a:defRPr>
            </a:pPr>
            <a:r>
              <a:t>✔  3. Protect the Soil:</a:t>
            </a:r>
          </a:p>
          <a:p>
            <a:pPr>
              <a:spcAft>
                <a:spcPts val="800"/>
              </a:spcAft>
              <a:defRPr sz="1150">
                <a:solidFill>
                  <a:srgbClr val="FFFFFF"/>
                </a:solidFill>
                <a:latin typeface="Calibri"/>
              </a:defRPr>
            </a:pPr>
            <a:r>
              <a:t>    Use organic or plastic mulch to conserve water and block weed emergence.</a:t>
            </a:r>
          </a:p>
          <a:p>
            <a:pPr>
              <a:defRPr sz="1300" b="1">
                <a:solidFill>
                  <a:srgbClr val="F59E0B"/>
                </a:solidFill>
                <a:latin typeface="Calibri"/>
              </a:defRPr>
            </a:pPr>
            <a:r>
              <a:t>✔  4. Combine Methods:</a:t>
            </a:r>
          </a:p>
          <a:p>
            <a:pPr>
              <a:spcAft>
                <a:spcPts val="800"/>
              </a:spcAft>
              <a:defRPr sz="1150">
                <a:solidFill>
                  <a:srgbClr val="FFFFFF"/>
                </a:solidFill>
                <a:latin typeface="Calibri"/>
              </a:defRPr>
            </a:pPr>
            <a:r>
              <a:t>    Integrate cultural, mechanical, and biological practices for best results.</a:t>
            </a:r>
          </a:p>
          <a:p>
            <a:pPr>
              <a:defRPr sz="1300" b="1">
                <a:solidFill>
                  <a:srgbClr val="F59E0B"/>
                </a:solidFill>
                <a:latin typeface="Calibri"/>
              </a:defRPr>
            </a:pPr>
            <a:r>
              <a:t>✔  5. Prevent Seed Setting:</a:t>
            </a:r>
          </a:p>
          <a:p>
            <a:pPr>
              <a:spcAft>
                <a:spcPts val="800"/>
              </a:spcAft>
              <a:defRPr sz="1150">
                <a:solidFill>
                  <a:srgbClr val="FFFFFF"/>
                </a:solidFill>
                <a:latin typeface="Calibri"/>
              </a:defRPr>
            </a:pPr>
            <a:r>
              <a:t>    Remove weeds before they flower to stop weed buildup in future years.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30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97280"/>
            <a:ext cx="5486400" cy="5029200"/>
          </a:xfrm>
          <a:prstGeom prst="roundRect">
            <a:avLst/>
          </a:prstGeom>
          <a:solidFill>
            <a:srgbClr val="14241A"/>
          </a:solidFill>
          <a:ln w="222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937760" cy="4114800"/>
          </a:xfrm>
          <a:prstGeom prst="rect">
            <a:avLst/>
          </a:prstGeom>
          <a:noFill/>
        </p:spPr>
        <p:txBody>
          <a:bodyPr wrap="square">
            <a:spAutoFit/>
          </a:bodyPr>
          <a:lstStyle/>
          <a:p>
            <a:pPr>
              <a:spcAft>
                <a:spcPts val="1600"/>
              </a:spcAft>
              <a:defRPr sz="3600" b="1">
                <a:solidFill>
                  <a:srgbClr val="F59E0B"/>
                </a:solidFill>
                <a:latin typeface="Calibri"/>
              </a:defRPr>
            </a:pPr>
            <a:r>
              <a:t>🌾 THANK YOU!</a:t>
            </a:r>
          </a:p>
          <a:p>
            <a:pPr>
              <a:spcAft>
                <a:spcPts val="1800"/>
              </a:spcAft>
              <a:defRPr sz="1600">
                <a:solidFill>
                  <a:srgbClr val="FFFFFF"/>
                </a:solidFill>
                <a:latin typeface="Calibri"/>
              </a:defRPr>
            </a:pPr>
            <a:r>
              <a:t>Thank you for your time and attention.</a:t>
            </a:r>
          </a:p>
          <a:p>
            <a:pPr>
              <a:spcAft>
                <a:spcPts val="2200"/>
              </a:spcAft>
              <a:defRPr sz="1400" b="1">
                <a:solidFill>
                  <a:srgbClr val="22C55E"/>
                </a:solidFill>
                <a:latin typeface="Calibri"/>
              </a:defRPr>
            </a:pPr>
            <a:r>
              <a:t>Healthy Crops  •  Thriving Farms  •  Higher Yields</a:t>
            </a:r>
          </a:p>
          <a:p>
            <a:pPr>
              <a:defRPr sz="1400">
                <a:solidFill>
                  <a:srgbClr val="E2E8F0"/>
                </a:solidFill>
                <a:latin typeface="Calibri"/>
              </a:defRPr>
            </a:pPr>
            <a:r>
              <a:t>💬 Questions &amp; Discussion Welcome!</a:t>
            </a:r>
          </a:p>
        </p:txBody>
      </p:sp>
      <p:pic>
        <p:nvPicPr>
          <p:cNvPr id="6" name="Picture 5" descr="conclusion_thankyou_farm.jpg"/>
          <p:cNvPicPr>
            <a:picLocks noChangeAspect="1"/>
          </p:cNvPicPr>
          <p:nvPr/>
        </p:nvPicPr>
        <p:blipFill>
          <a:blip r:embed="rId2"/>
          <a:stretch>
            <a:fillRect/>
          </a:stretch>
        </p:blipFill>
        <p:spPr>
          <a:xfrm>
            <a:off x="6492240" y="1097280"/>
            <a:ext cx="493776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